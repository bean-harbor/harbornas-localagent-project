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1887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6766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a:ea="Microsoft YaHei" a:latin="Microsoft YaHei">
                <a:solidFill>
                  <a:srgbClr val="213547"/>
                </a:solidFill>
                <a:latin typeface="Microsoft YaHei"/>
              </a:rPr>
              <a:t>HarborGate 到 HarborBeacon</a:t>
            </a:r>
          </a:p>
          <a:p>
            <a:pPr>
              <a:spcBef>
                <a:spcPts val="800"/>
              </a:spcBef>
            </a:pPr>
            <a:r>
              <a:rPr sz="1700" b="1" a:ea="Microsoft YaHei" a:latin="Microsoft YaHei">
                <a:solidFill>
                  <a:srgbClr val="0F766E"/>
                </a:solidFill>
                <a:latin typeface="Microsoft YaHei"/>
              </a:rPr>
              <a:t>北向入口、业务核心与南向域能力</a:t>
            </a:r>
          </a:p>
          <a:p>
            <a:pPr>
              <a:spcBef>
                <a:spcPts val="10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内部技术分享版 | 2026-04-24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a:ea="Microsoft YaHei" a:latin="Microsoft YaHei">
                <a:solidFill>
                  <a:srgbClr val="1F2933"/>
                </a:solidFill>
                <a:latin typeface="Microsoft YaHei"/>
              </a:rPr>
              <a:t>这版 PPT 只做一件事：把一条请求从 IM 入口走到南向执行，再回到 IM 的全过程讲清楚。</a:t>
            </a:r>
          </a:p>
          <a:p>
            <a:pPr algn="l">
              <a:spcAft>
                <a:spcPts val="400"/>
              </a:spcAft>
            </a:pPr>
            <a:r>
              <a:rPr sz="1600" b="0" a:ea="Microsoft YaHei" a:latin="Microsoft YaHei">
                <a:solidFill>
                  <a:srgbClr val="1F2933"/>
                </a:solidFill>
                <a:latin typeface="Microsoft YaHei"/>
              </a:rPr>
              <a:t>重点放在职责边界、冻结接口、北向入口面、南向域能力和三条典型链路。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868680"/>
            <a:ext cx="379476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868680"/>
            <a:ext cx="379476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069848"/>
            <a:ext cx="35021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399032"/>
            <a:ext cx="3502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IM adapters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route_key / session_id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platform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468880"/>
            <a:ext cx="379476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2468880"/>
            <a:ext cx="379476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670048"/>
            <a:ext cx="35021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HarborBeacon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999232"/>
            <a:ext cx="3502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task / session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approval / artifact / audit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planner / router /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069080"/>
            <a:ext cx="379476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4069080"/>
            <a:ext cx="379476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4270248"/>
            <a:ext cx="35021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Southbound Domains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4599432"/>
            <a:ext cx="35021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HarborOS System Domain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Home Device Domain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Model Center +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今天这 15 分钟讲什么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先把地图看清，再讲接口、域能力和典型链路。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02/15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325880"/>
            <a:ext cx="498348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498348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27048"/>
            <a:ext cx="4690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这次分享的 4 个问题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56232"/>
            <a:ext cx="4690872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1. 为什么要拆成 HarborGate 和 HarborBeacon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2. 一条请求在两个仓之间怎么流转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3. HarborBeacon 的北向入口面和核心职责落在哪些模块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4. 南向系统域、设备域和 model center 各自承接什么能力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325880"/>
            <a:ext cx="2514600" cy="1600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325880"/>
            <a:ext cx="251460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527048"/>
            <a:ext cx="22219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北向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856232"/>
            <a:ext cx="222199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面向 IM 平台、管理后台、页面和上层产品面的入口能力。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325880"/>
            <a:ext cx="2606040" cy="1600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41080" y="1325880"/>
            <a:ext cx="260604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1527048"/>
            <a:ext cx="23134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南向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856232"/>
            <a:ext cx="23134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面向 HarborOS、设备、协议适配器、本地模型和执行面的能力调用。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200400"/>
            <a:ext cx="534924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97880" y="3200400"/>
            <a:ext cx="5349240" cy="164592"/>
          </a:xfrm>
          <a:prstGeom prst="round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3401568"/>
            <a:ext cx="50566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怎么读后面的页面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730752"/>
            <a:ext cx="505663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上半场先看 HarborGate、HarborBeacon 和冻结边界；下半场看两条南向域和三条典型链路。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每一页都按“方便投屏讲”的节奏压缩信息密度。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24128" cy="256032"/>
          </a:xfrm>
          <a:prstGeom prst="roundRect">
            <a:avLst/>
          </a:prstGeom>
          <a:solidFill>
            <a:srgbClr val="D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[已落地]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5074920"/>
            <a:ext cx="1024128" cy="256032"/>
          </a:xfrm>
          <a:prstGeom prst="roundRect">
            <a:avLst/>
          </a:prstGeom>
          <a:solidFill>
            <a:srgbClr val="F6E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[在途]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7208" y="5074920"/>
            <a:ext cx="1024128" cy="256032"/>
          </a:xfrm>
          <a:prstGeom prst="roundRect">
            <a:avLst/>
          </a:prstGeom>
          <a:solidFill>
            <a:srgbClr val="F3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[愿景]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1324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a:ea="Microsoft YaHei" a:latin="Microsoft YaHei">
                <a:solidFill>
                  <a:srgbClr val="5D6B78"/>
                </a:solidFill>
                <a:latin typeface="Microsoft YaHei"/>
              </a:rPr>
              <a:t>这套标签只用来区分现状、在途项和长期方向，讲的时候口径更稳。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一条请求怎么从 HarborGate 走到 HarborBeacon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先看全链路，再拆开每一段。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03/15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28016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用户 / IM 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128016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1984248" y="2249424"/>
            <a:ext cx="402336" cy="384048"/>
          </a:xfrm>
          <a:prstGeom prst="chevron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2011680"/>
            <a:ext cx="128016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011680"/>
            <a:ext cx="128016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3794760" y="2249424"/>
            <a:ext cx="402336" cy="384048"/>
          </a:xfrm>
          <a:prstGeom prst="chevron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2011680"/>
            <a:ext cx="146304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POST /api/tasks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011680"/>
            <a:ext cx="146304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5788152" y="2249424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2011680"/>
            <a:ext cx="16459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HarborBeacon 核心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011680"/>
            <a:ext cx="16459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964424" y="2249424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49056" y="2011680"/>
            <a:ext cx="14173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F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南向执行域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6" y="2011680"/>
            <a:ext cx="1417320" cy="73152"/>
          </a:xfrm>
          <a:prstGeom prst="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9912096" y="2249424"/>
            <a:ext cx="40233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6728" y="2011680"/>
            <a:ext cx="1874519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POST /api/notifications/deliveries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96728" y="2011680"/>
            <a:ext cx="1874519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12316967" y="2249424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801599" y="2011680"/>
            <a:ext cx="14173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IM 回包 / 通知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599" y="2011680"/>
            <a:ext cx="141732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329184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40480"/>
            <a:ext cx="329184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041648"/>
            <a:ext cx="2999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你可以抓住的 3 个锚点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370832"/>
            <a:ext cx="2999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HarborGate 负责平台接入、route key 和消息投递。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HarborBeacon 负责任务状态、审批、artifact、audit 和南向编排。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出站通知继续走 HarborGate，平台凭据也留在 HarborGate。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840480"/>
            <a:ext cx="315468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34840" y="3840480"/>
            <a:ext cx="315468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4041648"/>
            <a:ext cx="28620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三条固定 seam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370832"/>
            <a:ext cx="28620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`POST /api/tasks`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`POST /api/notifications/deliveries`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`GET /api/gateway/status`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3840480"/>
            <a:ext cx="324612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09560" y="3840480"/>
            <a:ext cx="32461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4152" y="404164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讲的时候顺手点一下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437083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`X-Contract-Version: 1.5`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service auth + RFC 3339 UTC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`route_key` opaque, `resume_token` 跟着业务流走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两个仓各自负责什么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这页讲清楚职责分工，后面每一页都更容易听。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16052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416052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3867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56232"/>
            <a:ext cx="386791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IM adapters、webhook、websocket / long connection、long-poll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route_key / session_id 生命周期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平台凭据保存、验证和 redacted status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outbound delivery、payload 格式化、delivery retry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setup portal、mobile onboarding、平台状态页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325880"/>
            <a:ext cx="416052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1325880"/>
            <a:ext cx="416052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1527048"/>
            <a:ext cx="3867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HarborBeacon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1856232"/>
            <a:ext cx="386791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task / session lifecycle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planner / router / policy / executor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approval / artifact / audit / event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HarborOS System Domain、Home Device Domain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notification intent、model center、retrieval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627632"/>
            <a:ext cx="1508760" cy="3657600"/>
          </a:xfrm>
          <a:prstGeom prst="roundRect">
            <a:avLst/>
          </a:prstGeom>
          <a:solidFill>
            <a:srgbClr val="FBF6EF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a:ea="Microsoft YaHei" a:latin="Microsoft YaHei">
                <a:solidFill>
                  <a:srgbClr val="213547"/>
                </a:solidFill>
                <a:latin typeface="Microsoft YaHei"/>
              </a:rPr>
              <a:t>冻结接口</a:t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/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>POST /api/tasks</a:t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/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>POST /api/notifications/deliveries</a:t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/>
            </a:r>
          </a:p>
          <a:p>
            <a:pPr algn="ctr"/>
            <a:r>
              <a:rPr sz="1200" b="0" a:ea="Microsoft YaHei" a:latin="Microsoft YaHei">
                <a:solidFill>
                  <a:srgbClr val="213547"/>
                </a:solidFill>
                <a:latin typeface="Microsoft YaHei"/>
              </a:rPr>
              <a:t>GET /api/gateway/status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a:ea="Microsoft YaHei" a:latin="Microsoft YaHei">
                <a:solidFill>
                  <a:srgbClr val="5D6B78"/>
                </a:solidFill>
                <a:latin typeface="Microsoft YaHei"/>
              </a:rPr>
              <a:t>这套拆分以后，IM 侧可以独立迭代平台接入，HarborBeacon 侧可以集中打磨任务、状态和南向能力；联调只盯住这 3 条 seam。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冻结边界与契约细节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把字段和约束讲清楚，团队协作会轻松很多。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338328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338328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89888"/>
            <a:ext cx="30906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HarborGate -&gt; HarborBeacon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19072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`POST /api/tasks`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标准任务入口，承接 inbound turn。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38328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89888"/>
            <a:ext cx="30906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HarborBeacon -&gt; HarborGate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19072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`POST /api/notifications/deliveries`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通知意图交给 HarborGate 执行投递。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24612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188720"/>
            <a:ext cx="32461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38988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HarborBeacon &lt;- HarborGate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719072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`GET /api/gateway/status`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管理面消费脱敏平台状态。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423160"/>
            <a:ext cx="3456432" cy="2240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423160"/>
            <a:ext cx="3456432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624328"/>
            <a:ext cx="3163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TaskRequest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953512"/>
            <a:ext cx="316382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`task_id / trace_id / step_id`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`source.channel / surface / conversation_id / user_id / session_id / route_key`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`intent.domain / action / raw_text`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`args / autonomy.level / message.message_id / chat_type / mentions / attachments`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423160"/>
            <a:ext cx="3456432" cy="2240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70832" y="2423160"/>
            <a:ext cx="3456432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2624328"/>
            <a:ext cx="3163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TaskResponse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2953512"/>
            <a:ext cx="316382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`status / executor_used / risk_level`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`result.message / data / artifacts / events / next_actions`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`audit_ref / missing_fields / prompt / resume_token`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`completed / needs_input / failed` 三种状态贯穿多轮流程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423160"/>
            <a:ext cx="3282696" cy="2240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55864" y="2423160"/>
            <a:ext cx="3282696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2624328"/>
            <a:ext cx="299008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Notification + GatewayStatus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953512"/>
            <a:ext cx="2990088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`notification_id / trace_id / destination.route_key / delivery.mode / idempotency_key`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`GatewayStatusResponse` 返回平台启用状态、连接状态、能力和 redacted status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`route_key` 只当路由句柄来用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92040"/>
            <a:ext cx="10652760" cy="1051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892040"/>
            <a:ext cx="10652760" cy="164592"/>
          </a:xfrm>
          <a:prstGeom prst="round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093208"/>
            <a:ext cx="103601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讲这页时顺手补的 6 个口径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422392"/>
            <a:ext cx="103601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`X-Contract-Version: 1.5` 进入所有冻结接口；service-to-service auth 单独校验；跨仓时间戳用 RFC 3339 UTC；`task_id` 支持 replay / conflict；request rejection 走非 200 shared error envelope；accepted delivery failure 用 `HTTP 200 + ok=false`。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HarborGate 北向传输层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平台入口、route 语义和运维入口都集中在这一侧。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06/15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46120" cy="16002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24612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当前平台覆盖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5623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live: `feishu / weixin / webhook`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placeholder: `telegram / discord / slack / whatsapp / signal / email / wecom`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3246120" cy="1554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32461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5584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接入模式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85032"/>
            <a:ext cx="295351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webhook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websocket / long connection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long-poll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325880"/>
            <a:ext cx="342900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0520" y="1325880"/>
            <a:ext cx="342900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527048"/>
            <a:ext cx="31363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运行时语义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1856232"/>
            <a:ext cx="313639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`route_key`：平台路由句柄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`session_id`：会话级别标识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`resume_token`：按 chat 保存，后续 turn 带回 HarborBeacon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`task_id / trace_id`：从 inbound event identity 派生稳定值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325880"/>
            <a:ext cx="347472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1325880"/>
            <a:ext cx="3474720" cy="164592"/>
          </a:xfrm>
          <a:prstGeom prst="round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1527048"/>
            <a:ext cx="3182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运维入口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1856232"/>
            <a:ext cx="318211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`/setup /setup/qr /setup/qr.svg`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`/api/setup/status`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`/api/setup/feishu/configure`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`/api/gateway/status`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`/api/notifications/deliveries`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a:ea="Microsoft YaHei" a:latin="Microsoft YaHei">
                <a:solidFill>
                  <a:srgbClr val="5D6B78"/>
                </a:solidFill>
                <a:latin typeface="Microsoft YaHei"/>
              </a:rPr>
              <a:t>讲到 `GET /api/gateway/status` 时可以补一句：HarborGate 会把平台状态收敛成 `not_configured / configured_placeholder / live` 这一类统一口径，管理面读的是脱敏状态和能力摘要。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HarborBeacon 北向入口面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多个入口共用同一套 task / runtime / approval / audit 底座。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07/15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2971800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97180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72768"/>
            <a:ext cx="267919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assistant-task-api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01952"/>
            <a:ext cx="267919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`POST /api/tasks`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`GET /healthz`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HarborGate 进来的标准 turn 会先落到这里。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371600"/>
            <a:ext cx="3749039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1371600"/>
            <a:ext cx="3749039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1572768"/>
            <a:ext cx="3456431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agent-hub-admin-api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901952"/>
            <a:ext cx="3456431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`/api/state /api/account-management`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`/api/tasks/approvals /api/discovery/scan /api/devices/manual`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`/api/cameras/* /api/share-links /api/admin/notification-targets`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`/api/models/endpoints /api/models/policies /admin/models`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371600"/>
            <a:ext cx="3474720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1371600"/>
            <a:ext cx="34747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1572768"/>
            <a:ext cx="3182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harbor-model-api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19019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`GET /healthz`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`POST /v1/chat/completions`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`POST /v1/embeddings`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模型能力作为服务面挂在 HarborBeacon 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10607040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10607040" cy="164592"/>
          </a:xfrm>
          <a:prstGeom prst="round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67328"/>
            <a:ext cx="103144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HarborDesk / WebUI / live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096512"/>
            <a:ext cx="103144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HarborDesk、绑定页、live view、share page 都属于产品面；它们负责展示、配置和交互，任务状态和审批链继续回到同一套 runtime 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303520"/>
            <a:ext cx="20574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8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入口很多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03520"/>
            <a:ext cx="2057400" cy="73152"/>
          </a:xfrm>
          <a:prstGeom prst="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3236976" y="5468112"/>
            <a:ext cx="402336" cy="384048"/>
          </a:xfrm>
          <a:prstGeom prst="chevron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12464" y="5303520"/>
            <a:ext cx="20574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状态一套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2464" y="5303520"/>
            <a:ext cx="2057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5806440" y="5468112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81928" y="5303520"/>
            <a:ext cx="20574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审计一套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5303520"/>
            <a:ext cx="2057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8375904" y="5468112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51392" y="5303520"/>
            <a:ext cx="20574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通知一套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51392" y="5303520"/>
            <a:ext cx="205740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HarborBeacon 业务核心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这一层承接任务、会话、审批、artifact、audit 和通知意图。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08/15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入口接收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417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2167128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8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幂等判断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1417320"/>
            <a:ext cx="1417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3968496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会话恢复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1417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5769864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35624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planner / router /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417320"/>
            <a:ext cx="14173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571232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36992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执行或触发审批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1417320"/>
            <a:ext cx="141732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9372600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38360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写入 task run / artifact /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38360" y="1417320"/>
            <a:ext cx="141732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11173968" y="1609344"/>
            <a:ext cx="31089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39728" y="1417320"/>
            <a:ext cx="1417320" cy="777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返回 TaskResponse / 生成通知意图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539728" y="1417320"/>
            <a:ext cx="141732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880360"/>
            <a:ext cx="4892040" cy="2057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2880360"/>
            <a:ext cx="489204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081528"/>
            <a:ext cx="45994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当前这套核心已经持有的业务真相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410712"/>
            <a:ext cx="459943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business session state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resumable workflow state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approvals / artifacts / audit trail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business conversation continuity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notification intent、media sessions、share links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2880360"/>
            <a:ext cx="5367528" cy="2057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97880" y="2880360"/>
            <a:ext cx="5367528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62472" y="3081528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你可以顺手点一下的持久化对象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3410712"/>
            <a:ext cx="507492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`conversations / sessions / task_runs / task_steps`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`artifacts / approvals / events`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`media_sessions / share_links`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高风险动作会变成 `needs_input` 或 pending approval，再由后续 turn 继续完成。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南向 A：HarborOS System Domain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固定优先级已经收口到控制面优先。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09/15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325880"/>
            <a:ext cx="306324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Middleware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25880"/>
            <a:ext cx="306324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3968496" y="1490472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3984" y="1325880"/>
            <a:ext cx="306324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MidCLI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325880"/>
            <a:ext cx="306324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43800" y="1490472"/>
            <a:ext cx="402336" cy="384048"/>
          </a:xfrm>
          <a:prstGeom prst="chevron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19288" y="1325880"/>
            <a:ext cx="306324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F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Browser / MCP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9288" y="1325880"/>
            <a:ext cx="3063240" cy="73152"/>
          </a:xfrm>
          <a:prstGeom prst="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331720"/>
            <a:ext cx="5212080" cy="2331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331720"/>
            <a:ext cx="521208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32888"/>
            <a:ext cx="49194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已落地系统能力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62072"/>
            <a:ext cx="491947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`service.query`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`service.control`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`files.copy`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`files.move`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`files.list`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331720"/>
            <a:ext cx="5074920" cy="2331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2331720"/>
            <a:ext cx="507492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532888"/>
            <a:ext cx="4782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讲这页时顺手带上的边界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862072"/>
            <a:ext cx="478231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高风险系统动作会走 approval gate。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`Browser / MCP` 只放在 fallback 位，不接管 HarborOS ownership。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`files.stat / files.read_text` 留在 helper scope，方便 framework 使用，不扩成 HarborOS 产品面。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a:ea="Microsoft YaHei" a:latin="Microsoft YaHei">
                <a:solidFill>
                  <a:srgbClr val="5D6B78"/>
                </a:solidFill>
                <a:latin typeface="Microsoft YaHei"/>
              </a:rPr>
              <a:t>这一页的关键句：系统域先走 HarborOS 自己的接口面，回退路径是为了可用性和兼容性。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南向 B：Home Device Domain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设备域单独成线，摄像头协议和媒体链路都在这里收口。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10/15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22860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Native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2286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3035808" y="1490472"/>
            <a:ext cx="402336" cy="384048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1296" y="1325880"/>
            <a:ext cx="22860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LAN Bridge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1296" y="1325880"/>
            <a:ext cx="2286000" cy="73152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5833872" y="1490472"/>
            <a:ext cx="402336" cy="384048"/>
          </a:xfrm>
          <a:prstGeom prst="chevron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22860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BF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HarborOS Connector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286000" cy="73152"/>
          </a:xfrm>
          <a:prstGeom prst="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8631936" y="1490472"/>
            <a:ext cx="402336" cy="384048"/>
          </a:xfrm>
          <a:prstGeom prst="chevron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07424" y="1325880"/>
            <a:ext cx="2286000" cy="731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8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Cloud / MCP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325880"/>
            <a:ext cx="2286000" cy="73152"/>
          </a:xfrm>
          <a:prstGeom prst="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423160"/>
            <a:ext cx="3611880" cy="24231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423160"/>
            <a:ext cx="361188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624328"/>
            <a:ext cx="33192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协议与适配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953512"/>
            <a:ext cx="33192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`ONVIF`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`SSDP`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`mDNS`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`RTSP probe`</a:t>
            </a:r>
          </a:p>
          <a:p>
            <a:pPr>
              <a:spcAft>
                <a:spcPts val="500"/>
              </a:spcAft>
            </a:pPr>
            <a:r>
              <a:rPr sz="1300" b="0" a:ea="DengXian" a:latin="DengXian">
                <a:solidFill>
                  <a:srgbClr val="1F2933"/>
                </a:solidFill>
                <a:latin typeface="DengXian"/>
              </a:rPr>
              <a:t>vendor-cloud bridge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423160"/>
            <a:ext cx="3246120" cy="24231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2423160"/>
            <a:ext cx="324612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262432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domain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2953512"/>
            <a:ext cx="295351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`discover / list / get / update`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`snapshot / open_stream / ptz`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`camera.scan / connect / snapshot / share_link / analyze`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423160"/>
            <a:ext cx="3246120" cy="24231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73568" y="2423160"/>
            <a:ext cx="32461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624328"/>
            <a:ext cx="29535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这一域已经带出来的平台问题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53512"/>
            <a:ext cx="295351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设备发现和接入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媒体 / 控制分离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live view / share link / capture / analyze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人机补参和长任务状态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能力补能：Model Center + Multimodal Retrieval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这条线贴着 HarborBeacon 核心走，方便统一治理和路由。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11/15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4937760" cy="24231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493776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27048"/>
            <a:ext cx="46451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当前范围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64515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`document + image + OCR` 已经接到同一条检索主线。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citation 和 reply pack 继续由 HarborBeacon 打包。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`harbor-model-api` 提供 `/healthz`、chat completions 和 embeddings。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管理面已经有 endpoints / policies 的读写和测试入口。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325880"/>
            <a:ext cx="5367528" cy="24231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325880"/>
            <a:ext cx="5367528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527048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4 个策略位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856232"/>
            <a:ext cx="507492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`retrieval.ocr`：优先本地 tesseract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`retrieval.embed`：优先本地 OpenAI-compatible endpoint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`retrieval.answer`：local-first，可云端补能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`retrieval.vision_summary`：已占位，等 VLM 配置后提速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69080"/>
            <a:ext cx="10561320" cy="1371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4069080"/>
            <a:ext cx="10561320" cy="164592"/>
          </a:xfrm>
          <a:prstGeom prst="roundRect">
            <a:avLst/>
          </a:prstGeom>
          <a:solidFill>
            <a:srgbClr val="284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270248"/>
            <a:ext cx="102687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讲这页时可以这样收口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599432"/>
            <a:ext cx="102687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model center 负责把 OCR、embedding、answer 和 vision summary 变成可治理、可切换、可观测的能力槽位；更完整的 audio / video / full multimodal 还在后续阶段。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三条典型链路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用故事把前面的结构串起来，现场讲解会更顺。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12/15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7472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47472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3182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案例 1：IM 查询系统状态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318211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1. 用户在飞书或微信发出状态查询。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2. HarborGate 归一化消息，带上 `task_id / trace_id / route_key`。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3. `POST /api/tasks` 进入 HarborBeacon。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4. HarborBeacon 路由到 system domain。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5. `Middleware API -&gt; MidCLI -&gt; fallback` 选路执行。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6. 结果回到 HarborGate，再映射成平台 reply。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17320"/>
            <a:ext cx="347472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47472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18488"/>
            <a:ext cx="3182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案例 2：高风险操作的审批恢复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47672"/>
            <a:ext cx="318211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1. 用户发起 restart、move 之类的高风险动作。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2. HarborBeacon policy 判断需要 approval。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3. 返回 `status=needs_input`、`prompt`、`resume_token` 或审批 ticket。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4. HarborGate 把提示送回用户，管理面也能看到待审批任务。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5. 审批通过后，HarborBeacon 按 approval context replay / resume。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6. 最终结果再走同步 reply 或后续 notification。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417320"/>
            <a:ext cx="3474720" cy="4434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474720" cy="164592"/>
          </a:xfrm>
          <a:prstGeom prst="roundRect">
            <a:avLst/>
          </a:prstGeom>
          <a:solidFill>
            <a:srgbClr val="BF8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18488"/>
            <a:ext cx="31821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案例 3：摄像头从发现到回送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318211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1. 用户或管理面发起扫描。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2. HarborBeacon 走 `ONVIF / SSDP / mDNS / RTSP probe`。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3. 返回候选设备列表，必要时进入补参。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4. 接入后写入 registry。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5. 抓拍、分析、分享继续走 device / media / vision 链。</a:t>
            </a:r>
          </a:p>
          <a:p>
            <a:pPr>
              <a:spcAft>
                <a:spcPts val="500"/>
              </a:spcAft>
            </a:pPr>
            <a:r>
              <a:rPr sz="1100" b="0" a:ea="DengXian" a:latin="DengXian">
                <a:solidFill>
                  <a:srgbClr val="1F2933"/>
                </a:solidFill>
                <a:latin typeface="DengXian"/>
              </a:rPr>
              <a:t>6. 结果变成 artifact、share link、event，再经 HarborGate 送回用户。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Home Agent Hub 为什么值得单独讲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它把平台抽象推进到了可跑、可审计、可回送的程度。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13/15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71600"/>
            <a:ext cx="4709160" cy="40233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4709160" cy="16459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72768"/>
            <a:ext cx="4416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这个垂直域已经验证出来的平台能力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4416552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artifact envelope：文本、图片、录像、预览链接、分享链接、动作卡片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long-running task：扫描、抓流、录像、视觉分析都要有状态管理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entity resolution：设备、房间、对象、绑定用户要能从自然语言里抽出来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human-in-the-loop：选号、补密码、继续执行要走标准机制</a:t>
            </a:r>
          </a:p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sidecar worker pattern：ffmpeg、YOLO、本地播放器、后续工具 worker 都要接入治理面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37360"/>
            <a:ext cx="1417320" cy="256032"/>
          </a:xfrm>
          <a:prstGeom prst="roundRect">
            <a:avLst/>
          </a:prstGeom>
          <a:solidFill>
            <a:srgbClr val="D9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Artifact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88920"/>
            <a:ext cx="1417320" cy="256032"/>
          </a:xfrm>
          <a:prstGeom prst="roundRect">
            <a:avLst/>
          </a:prstGeom>
          <a:solidFill>
            <a:srgbClr val="F3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Long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737360"/>
            <a:ext cx="1417320" cy="256032"/>
          </a:xfrm>
          <a:prstGeom prst="roundRect">
            <a:avLst/>
          </a:prstGeom>
          <a:solidFill>
            <a:srgbClr val="F6E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HITL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31920"/>
            <a:ext cx="1417320" cy="256032"/>
          </a:xfrm>
          <a:prstGeom prst="roundRect">
            <a:avLst/>
          </a:prstGeom>
          <a:solidFill>
            <a:srgbClr val="DC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931920"/>
            <a:ext cx="1417320" cy="256032"/>
          </a:xfrm>
          <a:prstGeom prst="roundRect">
            <a:avLst/>
          </a:prstGeom>
          <a:solidFill>
            <a:srgbClr val="D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DengXian" a:latin="DengXian">
                <a:solidFill>
                  <a:srgbClr val="213547"/>
                </a:solidFill>
                <a:latin typeface="DengXian"/>
              </a:rPr>
              <a:t>Workers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5349240"/>
            <a:ext cx="5394960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7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5349240"/>
            <a:ext cx="5394960" cy="164592"/>
          </a:xfrm>
          <a:prstGeom prst="round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5550408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a:ea="Microsoft YaHei" a:latin="Microsoft YaHei">
                <a:solidFill>
                  <a:srgbClr val="213547"/>
                </a:solidFill>
                <a:latin typeface="Microsoft YaHei"/>
              </a:rPr>
              <a:t>一句话收口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5879592"/>
            <a:ext cx="5102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a:ea="DengXian" a:latin="DengXian">
                <a:solidFill>
                  <a:srgbClr val="1F2933"/>
                </a:solidFill>
                <a:latin typeface="DengXian"/>
              </a:rPr>
              <a:t>Home Agent Hub 让 HarborBeacon 的平台抽象从文档定义走到了真实域能力：有任务、有状态、有审计，也有完整回送链路。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附录 A：北向接口 / 入口矩阵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会后留档时，这张表最方便快速翻。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17320"/>
          <a:ext cx="108356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2788920"/>
                <a:gridCol w="3886200"/>
                <a:gridCol w="100584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入口 / 接口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主要路径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角色定位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HarborGate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平台消息入口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POST /messages/&lt;platform&gt;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adapter 归一化入口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HarborGate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setup portal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/setup /setup/qr /api/setup/status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北向配置与启动引导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HarborGate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gateway status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GET /api/gateway/status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脱敏状态和能力摘要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HarborGate -&gt; HarborBeacon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task ingress seam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POST /api/tasks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冻结跨仓任务入口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HarborBeacon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assistant-task-api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POST /api/tasks, GET /healthz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统一任务入口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HarborBeacon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agent-hub-admin-api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/api/state /api/tasks/approvals /api/cameras/* /api/models/*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管理面与产品面入口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HarborBeacon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harbor-model-api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/healthz /v1/chat/completions /v1/embeddings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模型能力服务面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HarborBeacon -&gt; HarborGate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notification seam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POST /api/notifications/deliveries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冻结跨仓通知投递意图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143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81381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a:ea="Microsoft YaHei" a:latin="Microsoft YaHei">
                <a:solidFill>
                  <a:srgbClr val="213547"/>
                </a:solidFill>
                <a:latin typeface="Microsoft YaHei"/>
              </a:rPr>
              <a:t>附录 B：南向能力 / 路由矩阵</a:t>
            </a:r>
          </a:p>
          <a:p>
            <a:pPr algn="l">
              <a:spcBef>
                <a:spcPts val="400"/>
              </a:spcBef>
            </a:pPr>
            <a:r>
              <a:rPr sz="1100" b="0" a:ea="DengXian" a:latin="DengXian">
                <a:solidFill>
                  <a:srgbClr val="5D6B78"/>
                </a:solidFill>
                <a:latin typeface="DengXian"/>
              </a:rPr>
              <a:t>这张表适合回答“这个能力到底落在哪条域线里”。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008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a:ea="DengXian" a:latin="DengXian">
                <a:solidFill>
                  <a:srgbClr val="5D6B78"/>
                </a:solidFill>
                <a:latin typeface="DengXian"/>
              </a:rPr>
              <a:t>15/15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09360"/>
            <a:ext cx="10881360" cy="18288"/>
          </a:xfrm>
          <a:prstGeom prst="rect">
            <a:avLst/>
          </a:prstGeom>
          <a:solidFill>
            <a:srgbClr val="D7C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9728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2377440"/>
                <a:gridCol w="1417320"/>
                <a:gridCol w="3474720"/>
                <a:gridCol w="8686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域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能力组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具体动作 / 能力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首选路由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回退 / 补位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icrosoft YaHei" a:latin="Microsoft YaHei">
                          <a:solidFill>
                            <a:srgbClr val="213547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D9EFEA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HarborOS System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服务查询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service.query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Middleware API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MidCLI -&gt; Browser/MCP fallback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HarborOS System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服务控制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service.control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Middleware API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MidCLI -&gt; Browser/MCP fallback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HarborOS System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文件能力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files.list / copy / move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Middleware API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MidCLI -&gt; constrained fallback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HarborOS System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helper scope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files.stat / files.read_text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helper only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保持 preview 范围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Home Device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发现与接入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discover / list / get / update / camera.scan / connect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Native Adapter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LAN Bridge -&gt; HarborOS Connector -&gt; Cloud/MCP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Home Device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媒体与控制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snapshot / open_stream / ptz / share_link / analyze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RTSP / native control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vendor-cloud bridge / sidecar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Model Center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OCR / embed / answer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retrieval.ocr / embed / answer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local-first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cloud fallback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[已落地]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</a:tr>
              <a:tr h="579120"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Model Center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vision summary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retrieval.vision_summary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configured VLM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degraded until ready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  <a:tc>
                  <a:txBody>
                    <a:bodyPr wrap="square" lIns="63500" rIns="63500" tIns="50800" bIns="50800"/>
                    <a:lstStyle/>
                    <a:p>
                      <a:pPr algn="l"/>
                      <a:r>
                        <a:rPr sz="900" b="0" a:ea="DengXian" a:latin="DengXian">
                          <a:solidFill>
                            <a:srgbClr val="1F2933"/>
                          </a:solidFill>
                          <a:latin typeface="DengXian"/>
                        </a:rPr>
                        <a:t>[在途]</a:t>
                      </a:r>
                    </a:p>
                  </a:txBody>
                  <a:tcPr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